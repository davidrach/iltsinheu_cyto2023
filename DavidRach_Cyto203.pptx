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7" r:id="rId2"/>
  </p:sldIdLst>
  <p:sldSz cx="51206400" cy="384048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168" userDrawn="1">
          <p15:clr>
            <a:srgbClr val="A4A3A4"/>
          </p15:clr>
        </p15:guide>
        <p15:guide id="2" pos="1612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E5EA"/>
    <a:srgbClr val="000000"/>
    <a:srgbClr val="F6F4D6"/>
    <a:srgbClr val="E1F2EF"/>
    <a:srgbClr val="800000"/>
    <a:srgbClr val="C8102E"/>
    <a:srgbClr val="FFC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B281A7-61DD-441D-4386-0E088F1B422D}" v="76" vWet="78" dt="2023-05-18T03:52:05.812"/>
    <p1510:client id="{74956EA2-3342-4F35-BCA2-FF9A3F59A07B}" v="3461" dt="2023-05-18T12:53:24.943"/>
    <p1510:client id="{85A2DE90-DDC8-4E68-8654-7EF9BC4A10DD}" v="1580" dt="2023-05-18T12:53:58.4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2168"/>
        <p:guide pos="16128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40480" y="6285233"/>
            <a:ext cx="43525440" cy="13370560"/>
          </a:xfrm>
        </p:spPr>
        <p:txBody>
          <a:bodyPr anchor="b"/>
          <a:lstStyle>
            <a:lvl1pPr algn="ctr">
              <a:defRPr sz="3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00800" y="20171413"/>
            <a:ext cx="38404800" cy="9272267"/>
          </a:xfrm>
        </p:spPr>
        <p:txBody>
          <a:bodyPr/>
          <a:lstStyle>
            <a:lvl1pPr marL="0" indent="0" algn="ctr">
              <a:buNone/>
              <a:defRPr sz="13440"/>
            </a:lvl1pPr>
            <a:lvl2pPr marL="2560320" indent="0" algn="ctr">
              <a:buNone/>
              <a:defRPr sz="11200"/>
            </a:lvl2pPr>
            <a:lvl3pPr marL="5120640" indent="0" algn="ctr">
              <a:buNone/>
              <a:defRPr sz="10080"/>
            </a:lvl3pPr>
            <a:lvl4pPr marL="7680960" indent="0" algn="ctr">
              <a:buNone/>
              <a:defRPr sz="8960"/>
            </a:lvl4pPr>
            <a:lvl5pPr marL="10241280" indent="0" algn="ctr">
              <a:buNone/>
              <a:defRPr sz="8960"/>
            </a:lvl5pPr>
            <a:lvl6pPr marL="12801600" indent="0" algn="ctr">
              <a:buNone/>
              <a:defRPr sz="8960"/>
            </a:lvl6pPr>
            <a:lvl7pPr marL="15361920" indent="0" algn="ctr">
              <a:buNone/>
              <a:defRPr sz="8960"/>
            </a:lvl7pPr>
            <a:lvl8pPr marL="17922240" indent="0" algn="ctr">
              <a:buNone/>
              <a:defRPr sz="8960"/>
            </a:lvl8pPr>
            <a:lvl9pPr marL="20482560" indent="0" algn="ctr">
              <a:buNone/>
              <a:defRPr sz="896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59D89-9389-4AEA-83E1-61ED3934F07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78818-D0FB-41BB-8E3E-09BD64CE2F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24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59D89-9389-4AEA-83E1-61ED3934F07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78818-D0FB-41BB-8E3E-09BD64CE2F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6690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93773" y="9574541"/>
            <a:ext cx="44165520" cy="15975327"/>
          </a:xfrm>
        </p:spPr>
        <p:txBody>
          <a:bodyPr anchor="b"/>
          <a:lstStyle>
            <a:lvl1pPr>
              <a:defRPr sz="3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93773" y="25701001"/>
            <a:ext cx="44165520" cy="8401047"/>
          </a:xfrm>
        </p:spPr>
        <p:txBody>
          <a:bodyPr/>
          <a:lstStyle>
            <a:lvl1pPr marL="0" indent="0">
              <a:buNone/>
              <a:defRPr sz="13440">
                <a:solidFill>
                  <a:schemeClr val="tx1"/>
                </a:solidFill>
              </a:defRPr>
            </a:lvl1pPr>
            <a:lvl2pPr marL="2560320" indent="0">
              <a:buNone/>
              <a:defRPr sz="11200">
                <a:solidFill>
                  <a:schemeClr val="tx1">
                    <a:tint val="75000"/>
                  </a:schemeClr>
                </a:solidFill>
              </a:defRPr>
            </a:lvl2pPr>
            <a:lvl3pPr marL="5120640" indent="0">
              <a:buNone/>
              <a:defRPr sz="10080">
                <a:solidFill>
                  <a:schemeClr val="tx1">
                    <a:tint val="75000"/>
                  </a:schemeClr>
                </a:solidFill>
              </a:defRPr>
            </a:lvl3pPr>
            <a:lvl4pPr marL="7680960" indent="0">
              <a:buNone/>
              <a:defRPr sz="8960">
                <a:solidFill>
                  <a:schemeClr val="tx1">
                    <a:tint val="75000"/>
                  </a:schemeClr>
                </a:solidFill>
              </a:defRPr>
            </a:lvl4pPr>
            <a:lvl5pPr marL="10241280" indent="0">
              <a:buNone/>
              <a:defRPr sz="8960">
                <a:solidFill>
                  <a:schemeClr val="tx1">
                    <a:tint val="75000"/>
                  </a:schemeClr>
                </a:solidFill>
              </a:defRPr>
            </a:lvl5pPr>
            <a:lvl6pPr marL="12801600" indent="0">
              <a:buNone/>
              <a:defRPr sz="8960">
                <a:solidFill>
                  <a:schemeClr val="tx1">
                    <a:tint val="75000"/>
                  </a:schemeClr>
                </a:solidFill>
              </a:defRPr>
            </a:lvl6pPr>
            <a:lvl7pPr marL="15361920" indent="0">
              <a:buNone/>
              <a:defRPr sz="8960">
                <a:solidFill>
                  <a:schemeClr val="tx1">
                    <a:tint val="75000"/>
                  </a:schemeClr>
                </a:solidFill>
              </a:defRPr>
            </a:lvl7pPr>
            <a:lvl8pPr marL="17922240" indent="0">
              <a:buNone/>
              <a:defRPr sz="8960">
                <a:solidFill>
                  <a:schemeClr val="tx1">
                    <a:tint val="75000"/>
                  </a:schemeClr>
                </a:solidFill>
              </a:defRPr>
            </a:lvl8pPr>
            <a:lvl9pPr marL="20482560" indent="0">
              <a:buNone/>
              <a:defRPr sz="89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59D89-9389-4AEA-83E1-61ED3934F07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78818-D0FB-41BB-8E3E-09BD64CE2F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099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20440" y="10223500"/>
            <a:ext cx="21762720" cy="243674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923240" y="10223500"/>
            <a:ext cx="21762720" cy="243674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59D89-9389-4AEA-83E1-61ED3934F07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78818-D0FB-41BB-8E3E-09BD64CE2F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5983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7110" y="2044708"/>
            <a:ext cx="44165520" cy="742315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27115" y="9414513"/>
            <a:ext cx="21662704" cy="4613907"/>
          </a:xfrm>
        </p:spPr>
        <p:txBody>
          <a:bodyPr anchor="b"/>
          <a:lstStyle>
            <a:lvl1pPr marL="0" indent="0">
              <a:buNone/>
              <a:defRPr sz="13440" b="1"/>
            </a:lvl1pPr>
            <a:lvl2pPr marL="2560320" indent="0">
              <a:buNone/>
              <a:defRPr sz="11200" b="1"/>
            </a:lvl2pPr>
            <a:lvl3pPr marL="5120640" indent="0">
              <a:buNone/>
              <a:defRPr sz="10080" b="1"/>
            </a:lvl3pPr>
            <a:lvl4pPr marL="7680960" indent="0">
              <a:buNone/>
              <a:defRPr sz="8960" b="1"/>
            </a:lvl4pPr>
            <a:lvl5pPr marL="10241280" indent="0">
              <a:buNone/>
              <a:defRPr sz="8960" b="1"/>
            </a:lvl5pPr>
            <a:lvl6pPr marL="12801600" indent="0">
              <a:buNone/>
              <a:defRPr sz="8960" b="1"/>
            </a:lvl6pPr>
            <a:lvl7pPr marL="15361920" indent="0">
              <a:buNone/>
              <a:defRPr sz="8960" b="1"/>
            </a:lvl7pPr>
            <a:lvl8pPr marL="17922240" indent="0">
              <a:buNone/>
              <a:defRPr sz="8960" b="1"/>
            </a:lvl8pPr>
            <a:lvl9pPr marL="20482560" indent="0">
              <a:buNone/>
              <a:defRPr sz="89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27115" y="14028420"/>
            <a:ext cx="21662704" cy="206336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5923243" y="9414513"/>
            <a:ext cx="21769390" cy="4613907"/>
          </a:xfrm>
        </p:spPr>
        <p:txBody>
          <a:bodyPr anchor="b"/>
          <a:lstStyle>
            <a:lvl1pPr marL="0" indent="0">
              <a:buNone/>
              <a:defRPr sz="13440" b="1"/>
            </a:lvl1pPr>
            <a:lvl2pPr marL="2560320" indent="0">
              <a:buNone/>
              <a:defRPr sz="11200" b="1"/>
            </a:lvl2pPr>
            <a:lvl3pPr marL="5120640" indent="0">
              <a:buNone/>
              <a:defRPr sz="10080" b="1"/>
            </a:lvl3pPr>
            <a:lvl4pPr marL="7680960" indent="0">
              <a:buNone/>
              <a:defRPr sz="8960" b="1"/>
            </a:lvl4pPr>
            <a:lvl5pPr marL="10241280" indent="0">
              <a:buNone/>
              <a:defRPr sz="8960" b="1"/>
            </a:lvl5pPr>
            <a:lvl6pPr marL="12801600" indent="0">
              <a:buNone/>
              <a:defRPr sz="8960" b="1"/>
            </a:lvl6pPr>
            <a:lvl7pPr marL="15361920" indent="0">
              <a:buNone/>
              <a:defRPr sz="8960" b="1"/>
            </a:lvl7pPr>
            <a:lvl8pPr marL="17922240" indent="0">
              <a:buNone/>
              <a:defRPr sz="8960" b="1"/>
            </a:lvl8pPr>
            <a:lvl9pPr marL="20482560" indent="0">
              <a:buNone/>
              <a:defRPr sz="89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5923243" y="14028420"/>
            <a:ext cx="21769390" cy="206336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59D89-9389-4AEA-83E1-61ED3934F07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78818-D0FB-41BB-8E3E-09BD64CE2F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1416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59D89-9389-4AEA-83E1-61ED3934F07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78818-D0FB-41BB-8E3E-09BD64CE2F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914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59D89-9389-4AEA-83E1-61ED3934F07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78818-D0FB-41BB-8E3E-09BD64CE2F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184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7110" y="2560320"/>
            <a:ext cx="16515397" cy="8961120"/>
          </a:xfrm>
        </p:spPr>
        <p:txBody>
          <a:bodyPr anchor="b"/>
          <a:lstStyle>
            <a:lvl1pPr>
              <a:defRPr sz="1792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769390" y="5529588"/>
            <a:ext cx="25923240" cy="27292300"/>
          </a:xfrm>
        </p:spPr>
        <p:txBody>
          <a:bodyPr/>
          <a:lstStyle>
            <a:lvl1pPr>
              <a:defRPr sz="17920"/>
            </a:lvl1pPr>
            <a:lvl2pPr>
              <a:defRPr sz="15680"/>
            </a:lvl2pPr>
            <a:lvl3pPr>
              <a:defRPr sz="13440"/>
            </a:lvl3pPr>
            <a:lvl4pPr>
              <a:defRPr sz="11200"/>
            </a:lvl4pPr>
            <a:lvl5pPr>
              <a:defRPr sz="11200"/>
            </a:lvl5pPr>
            <a:lvl6pPr>
              <a:defRPr sz="11200"/>
            </a:lvl6pPr>
            <a:lvl7pPr>
              <a:defRPr sz="11200"/>
            </a:lvl7pPr>
            <a:lvl8pPr>
              <a:defRPr sz="11200"/>
            </a:lvl8pPr>
            <a:lvl9pPr>
              <a:defRPr sz="1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27110" y="11521440"/>
            <a:ext cx="16515397" cy="21344893"/>
          </a:xfrm>
        </p:spPr>
        <p:txBody>
          <a:bodyPr/>
          <a:lstStyle>
            <a:lvl1pPr marL="0" indent="0">
              <a:buNone/>
              <a:defRPr sz="8960"/>
            </a:lvl1pPr>
            <a:lvl2pPr marL="2560320" indent="0">
              <a:buNone/>
              <a:defRPr sz="7840"/>
            </a:lvl2pPr>
            <a:lvl3pPr marL="5120640" indent="0">
              <a:buNone/>
              <a:defRPr sz="6720"/>
            </a:lvl3pPr>
            <a:lvl4pPr marL="7680960" indent="0">
              <a:buNone/>
              <a:defRPr sz="5600"/>
            </a:lvl4pPr>
            <a:lvl5pPr marL="10241280" indent="0">
              <a:buNone/>
              <a:defRPr sz="5600"/>
            </a:lvl5pPr>
            <a:lvl6pPr marL="12801600" indent="0">
              <a:buNone/>
              <a:defRPr sz="5600"/>
            </a:lvl6pPr>
            <a:lvl7pPr marL="15361920" indent="0">
              <a:buNone/>
              <a:defRPr sz="5600"/>
            </a:lvl7pPr>
            <a:lvl8pPr marL="17922240" indent="0">
              <a:buNone/>
              <a:defRPr sz="5600"/>
            </a:lvl8pPr>
            <a:lvl9pPr marL="20482560" indent="0">
              <a:buNone/>
              <a:defRPr sz="5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59D89-9389-4AEA-83E1-61ED3934F07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78818-D0FB-41BB-8E3E-09BD64CE2F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9198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7110" y="2560320"/>
            <a:ext cx="16515397" cy="8961120"/>
          </a:xfrm>
        </p:spPr>
        <p:txBody>
          <a:bodyPr anchor="b"/>
          <a:lstStyle>
            <a:lvl1pPr>
              <a:defRPr sz="1792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769390" y="5529588"/>
            <a:ext cx="25923240" cy="27292300"/>
          </a:xfrm>
        </p:spPr>
        <p:txBody>
          <a:bodyPr anchor="t"/>
          <a:lstStyle>
            <a:lvl1pPr marL="0" indent="0">
              <a:buNone/>
              <a:defRPr sz="17920"/>
            </a:lvl1pPr>
            <a:lvl2pPr marL="2560320" indent="0">
              <a:buNone/>
              <a:defRPr sz="15680"/>
            </a:lvl2pPr>
            <a:lvl3pPr marL="5120640" indent="0">
              <a:buNone/>
              <a:defRPr sz="13440"/>
            </a:lvl3pPr>
            <a:lvl4pPr marL="7680960" indent="0">
              <a:buNone/>
              <a:defRPr sz="11200"/>
            </a:lvl4pPr>
            <a:lvl5pPr marL="10241280" indent="0">
              <a:buNone/>
              <a:defRPr sz="11200"/>
            </a:lvl5pPr>
            <a:lvl6pPr marL="12801600" indent="0">
              <a:buNone/>
              <a:defRPr sz="11200"/>
            </a:lvl6pPr>
            <a:lvl7pPr marL="15361920" indent="0">
              <a:buNone/>
              <a:defRPr sz="11200"/>
            </a:lvl7pPr>
            <a:lvl8pPr marL="17922240" indent="0">
              <a:buNone/>
              <a:defRPr sz="11200"/>
            </a:lvl8pPr>
            <a:lvl9pPr marL="20482560" indent="0">
              <a:buNone/>
              <a:defRPr sz="112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27110" y="11521440"/>
            <a:ext cx="16515397" cy="21344893"/>
          </a:xfrm>
        </p:spPr>
        <p:txBody>
          <a:bodyPr/>
          <a:lstStyle>
            <a:lvl1pPr marL="0" indent="0">
              <a:buNone/>
              <a:defRPr sz="8960"/>
            </a:lvl1pPr>
            <a:lvl2pPr marL="2560320" indent="0">
              <a:buNone/>
              <a:defRPr sz="7840"/>
            </a:lvl2pPr>
            <a:lvl3pPr marL="5120640" indent="0">
              <a:buNone/>
              <a:defRPr sz="6720"/>
            </a:lvl3pPr>
            <a:lvl4pPr marL="7680960" indent="0">
              <a:buNone/>
              <a:defRPr sz="5600"/>
            </a:lvl4pPr>
            <a:lvl5pPr marL="10241280" indent="0">
              <a:buNone/>
              <a:defRPr sz="5600"/>
            </a:lvl5pPr>
            <a:lvl6pPr marL="12801600" indent="0">
              <a:buNone/>
              <a:defRPr sz="5600"/>
            </a:lvl6pPr>
            <a:lvl7pPr marL="15361920" indent="0">
              <a:buNone/>
              <a:defRPr sz="5600"/>
            </a:lvl7pPr>
            <a:lvl8pPr marL="17922240" indent="0">
              <a:buNone/>
              <a:defRPr sz="5600"/>
            </a:lvl8pPr>
            <a:lvl9pPr marL="20482560" indent="0">
              <a:buNone/>
              <a:defRPr sz="5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59D89-9389-4AEA-83E1-61ED3934F07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78818-D0FB-41BB-8E3E-09BD64CE2F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3851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59D89-9389-4AEA-83E1-61ED3934F07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78818-D0FB-41BB-8E3E-09BD64CE2F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107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6644583" y="2044700"/>
            <a:ext cx="11041380" cy="3254629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520443" y="2044700"/>
            <a:ext cx="32484060" cy="3254629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59D89-9389-4AEA-83E1-61ED3934F07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78818-D0FB-41BB-8E3E-09BD64CE2F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9468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20440" y="2044708"/>
            <a:ext cx="44165520" cy="74231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20440" y="10223500"/>
            <a:ext cx="44165520" cy="243674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520440" y="35595568"/>
            <a:ext cx="11521440" cy="20447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359D89-9389-4AEA-83E1-61ED3934F07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962120" y="35595568"/>
            <a:ext cx="17282160" cy="20447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164520" y="35595568"/>
            <a:ext cx="11521440" cy="20447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978818-D0FB-41BB-8E3E-09BD64CE2F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960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5120640" rtl="0" eaLnBrk="1" latinLnBrk="0" hangingPunct="1">
        <a:lnSpc>
          <a:spcPct val="90000"/>
        </a:lnSpc>
        <a:spcBef>
          <a:spcPct val="0"/>
        </a:spcBef>
        <a:buNone/>
        <a:defRPr sz="246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0160" indent="-1280160" algn="l" defTabSz="5120640" rtl="0" eaLnBrk="1" latinLnBrk="0" hangingPunct="1">
        <a:lnSpc>
          <a:spcPct val="90000"/>
        </a:lnSpc>
        <a:spcBef>
          <a:spcPts val="5600"/>
        </a:spcBef>
        <a:buFont typeface="Arial" panose="020B0604020202020204" pitchFamily="34" charset="0"/>
        <a:buChar char="•"/>
        <a:defRPr sz="15680" kern="1200">
          <a:solidFill>
            <a:schemeClr val="tx1"/>
          </a:solidFill>
          <a:latin typeface="+mn-lt"/>
          <a:ea typeface="+mn-ea"/>
          <a:cs typeface="+mn-cs"/>
        </a:defRPr>
      </a:lvl1pPr>
      <a:lvl2pPr marL="3840480" indent="-1280160" algn="l" defTabSz="5120640" rtl="0" eaLnBrk="1" latinLnBrk="0" hangingPunct="1">
        <a:lnSpc>
          <a:spcPct val="90000"/>
        </a:lnSpc>
        <a:spcBef>
          <a:spcPts val="2800"/>
        </a:spcBef>
        <a:buFont typeface="Arial" panose="020B0604020202020204" pitchFamily="34" charset="0"/>
        <a:buChar char="•"/>
        <a:defRPr sz="1344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0" indent="-1280160" algn="l" defTabSz="5120640" rtl="0" eaLnBrk="1" latinLnBrk="0" hangingPunct="1">
        <a:lnSpc>
          <a:spcPct val="90000"/>
        </a:lnSpc>
        <a:spcBef>
          <a:spcPts val="2800"/>
        </a:spcBef>
        <a:buFont typeface="Arial" panose="020B0604020202020204" pitchFamily="34" charset="0"/>
        <a:buChar char="•"/>
        <a:defRPr sz="11200" kern="1200">
          <a:solidFill>
            <a:schemeClr val="tx1"/>
          </a:solidFill>
          <a:latin typeface="+mn-lt"/>
          <a:ea typeface="+mn-ea"/>
          <a:cs typeface="+mn-cs"/>
        </a:defRPr>
      </a:lvl3pPr>
      <a:lvl4pPr marL="8961120" indent="-1280160" algn="l" defTabSz="5120640" rtl="0" eaLnBrk="1" latinLnBrk="0" hangingPunct="1">
        <a:lnSpc>
          <a:spcPct val="90000"/>
        </a:lnSpc>
        <a:spcBef>
          <a:spcPts val="2800"/>
        </a:spcBef>
        <a:buFont typeface="Arial" panose="020B0604020202020204" pitchFamily="34" charset="0"/>
        <a:buChar char="•"/>
        <a:defRPr sz="10080" kern="1200">
          <a:solidFill>
            <a:schemeClr val="tx1"/>
          </a:solidFill>
          <a:latin typeface="+mn-lt"/>
          <a:ea typeface="+mn-ea"/>
          <a:cs typeface="+mn-cs"/>
        </a:defRPr>
      </a:lvl4pPr>
      <a:lvl5pPr marL="11521440" indent="-1280160" algn="l" defTabSz="5120640" rtl="0" eaLnBrk="1" latinLnBrk="0" hangingPunct="1">
        <a:lnSpc>
          <a:spcPct val="90000"/>
        </a:lnSpc>
        <a:spcBef>
          <a:spcPts val="2800"/>
        </a:spcBef>
        <a:buFont typeface="Arial" panose="020B0604020202020204" pitchFamily="34" charset="0"/>
        <a:buChar char="•"/>
        <a:defRPr sz="10080" kern="1200">
          <a:solidFill>
            <a:schemeClr val="tx1"/>
          </a:solidFill>
          <a:latin typeface="+mn-lt"/>
          <a:ea typeface="+mn-ea"/>
          <a:cs typeface="+mn-cs"/>
        </a:defRPr>
      </a:lvl5pPr>
      <a:lvl6pPr marL="14081760" indent="-1280160" algn="l" defTabSz="5120640" rtl="0" eaLnBrk="1" latinLnBrk="0" hangingPunct="1">
        <a:lnSpc>
          <a:spcPct val="90000"/>
        </a:lnSpc>
        <a:spcBef>
          <a:spcPts val="2800"/>
        </a:spcBef>
        <a:buFont typeface="Arial" panose="020B0604020202020204" pitchFamily="34" charset="0"/>
        <a:buChar char="•"/>
        <a:defRPr sz="10080" kern="1200">
          <a:solidFill>
            <a:schemeClr val="tx1"/>
          </a:solidFill>
          <a:latin typeface="+mn-lt"/>
          <a:ea typeface="+mn-ea"/>
          <a:cs typeface="+mn-cs"/>
        </a:defRPr>
      </a:lvl6pPr>
      <a:lvl7pPr marL="16642080" indent="-1280160" algn="l" defTabSz="5120640" rtl="0" eaLnBrk="1" latinLnBrk="0" hangingPunct="1">
        <a:lnSpc>
          <a:spcPct val="90000"/>
        </a:lnSpc>
        <a:spcBef>
          <a:spcPts val="2800"/>
        </a:spcBef>
        <a:buFont typeface="Arial" panose="020B0604020202020204" pitchFamily="34" charset="0"/>
        <a:buChar char="•"/>
        <a:defRPr sz="1008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0" indent="-1280160" algn="l" defTabSz="5120640" rtl="0" eaLnBrk="1" latinLnBrk="0" hangingPunct="1">
        <a:lnSpc>
          <a:spcPct val="90000"/>
        </a:lnSpc>
        <a:spcBef>
          <a:spcPts val="2800"/>
        </a:spcBef>
        <a:buFont typeface="Arial" panose="020B0604020202020204" pitchFamily="34" charset="0"/>
        <a:buChar char="•"/>
        <a:defRPr sz="10080" kern="1200">
          <a:solidFill>
            <a:schemeClr val="tx1"/>
          </a:solidFill>
          <a:latin typeface="+mn-lt"/>
          <a:ea typeface="+mn-ea"/>
          <a:cs typeface="+mn-cs"/>
        </a:defRPr>
      </a:lvl8pPr>
      <a:lvl9pPr marL="21762720" indent="-1280160" algn="l" defTabSz="5120640" rtl="0" eaLnBrk="1" latinLnBrk="0" hangingPunct="1">
        <a:lnSpc>
          <a:spcPct val="90000"/>
        </a:lnSpc>
        <a:spcBef>
          <a:spcPts val="2800"/>
        </a:spcBef>
        <a:buFont typeface="Arial" panose="020B0604020202020204" pitchFamily="34" charset="0"/>
        <a:buChar char="•"/>
        <a:defRPr sz="100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20640" rtl="0" eaLnBrk="1" latinLnBrk="0" hangingPunct="1">
        <a:defRPr sz="10080" kern="1200">
          <a:solidFill>
            <a:schemeClr val="tx1"/>
          </a:solidFill>
          <a:latin typeface="+mn-lt"/>
          <a:ea typeface="+mn-ea"/>
          <a:cs typeface="+mn-cs"/>
        </a:defRPr>
      </a:lvl1pPr>
      <a:lvl2pPr marL="2560320" algn="l" defTabSz="5120640" rtl="0" eaLnBrk="1" latinLnBrk="0" hangingPunct="1">
        <a:defRPr sz="10080" kern="1200">
          <a:solidFill>
            <a:schemeClr val="tx1"/>
          </a:solidFill>
          <a:latin typeface="+mn-lt"/>
          <a:ea typeface="+mn-ea"/>
          <a:cs typeface="+mn-cs"/>
        </a:defRPr>
      </a:lvl2pPr>
      <a:lvl3pPr marL="5120640" algn="l" defTabSz="5120640" rtl="0" eaLnBrk="1" latinLnBrk="0" hangingPunct="1">
        <a:defRPr sz="10080" kern="1200">
          <a:solidFill>
            <a:schemeClr val="tx1"/>
          </a:solidFill>
          <a:latin typeface="+mn-lt"/>
          <a:ea typeface="+mn-ea"/>
          <a:cs typeface="+mn-cs"/>
        </a:defRPr>
      </a:lvl3pPr>
      <a:lvl4pPr marL="7680960" algn="l" defTabSz="5120640" rtl="0" eaLnBrk="1" latinLnBrk="0" hangingPunct="1">
        <a:defRPr sz="10080" kern="1200">
          <a:solidFill>
            <a:schemeClr val="tx1"/>
          </a:solidFill>
          <a:latin typeface="+mn-lt"/>
          <a:ea typeface="+mn-ea"/>
          <a:cs typeface="+mn-cs"/>
        </a:defRPr>
      </a:lvl4pPr>
      <a:lvl5pPr marL="10241280" algn="l" defTabSz="5120640" rtl="0" eaLnBrk="1" latinLnBrk="0" hangingPunct="1">
        <a:defRPr sz="10080" kern="1200">
          <a:solidFill>
            <a:schemeClr val="tx1"/>
          </a:solidFill>
          <a:latin typeface="+mn-lt"/>
          <a:ea typeface="+mn-ea"/>
          <a:cs typeface="+mn-cs"/>
        </a:defRPr>
      </a:lvl5pPr>
      <a:lvl6pPr marL="12801600" algn="l" defTabSz="5120640" rtl="0" eaLnBrk="1" latinLnBrk="0" hangingPunct="1">
        <a:defRPr sz="10080" kern="1200">
          <a:solidFill>
            <a:schemeClr val="tx1"/>
          </a:solidFill>
          <a:latin typeface="+mn-lt"/>
          <a:ea typeface="+mn-ea"/>
          <a:cs typeface="+mn-cs"/>
        </a:defRPr>
      </a:lvl6pPr>
      <a:lvl7pPr marL="15361920" algn="l" defTabSz="5120640" rtl="0" eaLnBrk="1" latinLnBrk="0" hangingPunct="1">
        <a:defRPr sz="10080" kern="1200">
          <a:solidFill>
            <a:schemeClr val="tx1"/>
          </a:solidFill>
          <a:latin typeface="+mn-lt"/>
          <a:ea typeface="+mn-ea"/>
          <a:cs typeface="+mn-cs"/>
        </a:defRPr>
      </a:lvl7pPr>
      <a:lvl8pPr marL="17922240" algn="l" defTabSz="5120640" rtl="0" eaLnBrk="1" latinLnBrk="0" hangingPunct="1">
        <a:defRPr sz="10080" kern="1200">
          <a:solidFill>
            <a:schemeClr val="tx1"/>
          </a:solidFill>
          <a:latin typeface="+mn-lt"/>
          <a:ea typeface="+mn-ea"/>
          <a:cs typeface="+mn-cs"/>
        </a:defRPr>
      </a:lvl8pPr>
      <a:lvl9pPr marL="20482560" algn="l" defTabSz="5120640" rtl="0" eaLnBrk="1" latinLnBrk="0" hangingPunct="1">
        <a:defRPr sz="100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jpe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jpeg"/><Relationship Id="rId4" Type="http://schemas.openxmlformats.org/officeDocument/2006/relationships/image" Target="../media/image3.png"/><Relationship Id="rId9" Type="http://schemas.openxmlformats.org/officeDocument/2006/relationships/image" Target="../media/image8.jpeg"/><Relationship Id="rId14" Type="http://schemas.openxmlformats.org/officeDocument/2006/relationships/image" Target="../media/image1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1" name="Picture 12">
            <a:extLst>
              <a:ext uri="{FF2B5EF4-FFF2-40B4-BE49-F238E27FC236}">
                <a16:creationId xmlns:a16="http://schemas.microsoft.com/office/drawing/2014/main" id="{D06350EC-4F01-BD4A-230F-BC2A06BEB50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21" r="52110" b="49001"/>
          <a:stretch/>
        </p:blipFill>
        <p:spPr bwMode="auto">
          <a:xfrm>
            <a:off x="32590260" y="18689481"/>
            <a:ext cx="4152738" cy="5225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AB2D7A2-59F1-CBD4-39AF-5E86BFF5815B}"/>
              </a:ext>
            </a:extLst>
          </p:cNvPr>
          <p:cNvSpPr txBox="1"/>
          <p:nvPr/>
        </p:nvSpPr>
        <p:spPr>
          <a:xfrm>
            <a:off x="9061116" y="453280"/>
            <a:ext cx="33084169" cy="477053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0" b="1">
                <a:latin typeface="Roboto" panose="02000000000000000000" pitchFamily="2" charset="0"/>
              </a:rPr>
              <a:t>Spectral Flow Cytometry Analysis of Innate-like T cell responses in Malawian HIV-exposed Uninfected (HEU) Infants</a:t>
            </a:r>
          </a:p>
          <a:p>
            <a:pPr algn="ctr"/>
            <a:endParaRPr lang="en-US" sz="4400" b="1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ctr"/>
            <a:endParaRPr lang="en-US" sz="9600" b="1">
              <a:latin typeface="Roboto" panose="02000000000000000000" pitchFamily="2" charset="0"/>
            </a:endParaRPr>
          </a:p>
        </p:txBody>
      </p:sp>
      <p:pic>
        <p:nvPicPr>
          <p:cNvPr id="16" name="Picture 15" descr="A picture containing text, screenshot, colorfulness, art&#10;&#10;Description automatically generated">
            <a:extLst>
              <a:ext uri="{FF2B5EF4-FFF2-40B4-BE49-F238E27FC236}">
                <a16:creationId xmlns:a16="http://schemas.microsoft.com/office/drawing/2014/main" id="{5C2FF8A2-C06B-3F8C-E50A-3FD552C8150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92" b="-3685"/>
          <a:stretch/>
        </p:blipFill>
        <p:spPr>
          <a:xfrm>
            <a:off x="43287835" y="18689481"/>
            <a:ext cx="7759133" cy="4973544"/>
          </a:xfrm>
          <a:prstGeom prst="rect">
            <a:avLst/>
          </a:prstGeom>
        </p:spPr>
      </p:pic>
      <p:pic>
        <p:nvPicPr>
          <p:cNvPr id="20" name="Picture 19" descr="A black and blue text on a black background&#10;&#10;Description automatically generated with low confidence">
            <a:extLst>
              <a:ext uri="{FF2B5EF4-FFF2-40B4-BE49-F238E27FC236}">
                <a16:creationId xmlns:a16="http://schemas.microsoft.com/office/drawing/2014/main" id="{CCB77329-2AE6-7872-B6D8-70CAB20B4B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36808" y="1518867"/>
            <a:ext cx="7958605" cy="2992435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672C981A-82DD-12DD-F591-E3FF6B8DC148}"/>
              </a:ext>
            </a:extLst>
          </p:cNvPr>
          <p:cNvSpPr txBox="1"/>
          <p:nvPr/>
        </p:nvSpPr>
        <p:spPr>
          <a:xfrm>
            <a:off x="12569037" y="3214071"/>
            <a:ext cx="2606832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David Rach</a:t>
            </a:r>
            <a:r>
              <a:rPr lang="en-US" sz="3600" baseline="300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</a:t>
            </a:r>
            <a:r>
              <a:rPr lang="en-US" sz="36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Hao-Ting Hsu</a:t>
            </a:r>
            <a:r>
              <a:rPr lang="en-US" sz="3600" baseline="300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</a:t>
            </a:r>
            <a:r>
              <a:rPr lang="en-US" sz="36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Nginache Nampota</a:t>
            </a:r>
            <a:r>
              <a:rPr lang="en-US" sz="3600" baseline="300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3</a:t>
            </a:r>
            <a:r>
              <a:rPr lang="en-US" sz="36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Godfrey Mvula</a:t>
            </a:r>
            <a:r>
              <a:rPr lang="en-US" sz="3600" baseline="300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3</a:t>
            </a:r>
            <a:r>
              <a:rPr lang="en-US" sz="36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Felix A. Mkandawire</a:t>
            </a:r>
            <a:r>
              <a:rPr lang="en-US" sz="3600" baseline="300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3</a:t>
            </a:r>
            <a:r>
              <a:rPr lang="en-US" sz="36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Osward M. Nyirenda</a:t>
            </a:r>
            <a:r>
              <a:rPr lang="en-US" sz="3600" baseline="300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3</a:t>
            </a:r>
            <a:r>
              <a:rPr lang="en-US" sz="36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Ingrid Peterson</a:t>
            </a:r>
            <a:r>
              <a:rPr lang="en-US" sz="3600" baseline="300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4</a:t>
            </a:r>
            <a:r>
              <a:rPr lang="en-US" sz="36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Franklin R. Toapanta</a:t>
            </a:r>
            <a:r>
              <a:rPr lang="en-US" sz="3600" baseline="300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4</a:t>
            </a:r>
            <a:r>
              <a:rPr lang="en-US" sz="36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Marcelo B. Sztein</a:t>
            </a:r>
            <a:r>
              <a:rPr lang="en-US" sz="3600" baseline="300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4</a:t>
            </a:r>
            <a:r>
              <a:rPr lang="en-US" sz="36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Miriam Laufer</a:t>
            </a:r>
            <a:r>
              <a:rPr lang="en-US" sz="3600" baseline="300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4</a:t>
            </a:r>
            <a:r>
              <a:rPr lang="en-US" sz="36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Kirsten E. Lyke</a:t>
            </a:r>
            <a:r>
              <a:rPr lang="en-US" sz="3600" baseline="300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4</a:t>
            </a:r>
            <a:r>
              <a:rPr lang="en-US" sz="36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Cristiana Cairo</a:t>
            </a:r>
            <a:r>
              <a:rPr lang="en-US" sz="3600" baseline="300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</a:t>
            </a:r>
          </a:p>
          <a:p>
            <a:endParaRPr lang="en-US" sz="360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C6DE3BC-15AC-7AFC-CCC0-361543C92F66}"/>
              </a:ext>
            </a:extLst>
          </p:cNvPr>
          <p:cNvSpPr txBox="1"/>
          <p:nvPr/>
        </p:nvSpPr>
        <p:spPr>
          <a:xfrm>
            <a:off x="9061116" y="4186409"/>
            <a:ext cx="33084169" cy="1795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endParaRPr lang="en-US" sz="2800" baseline="3000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ctr">
              <a:spcAft>
                <a:spcPts val="600"/>
              </a:spcAft>
            </a:pPr>
            <a:r>
              <a:rPr lang="en-US" sz="28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 Molecular Microbiology and Immunology Graduate Program, University of Maryland School of Medicine, Baltimore, USA.  2 Institute of Human Virology, University of Maryland School of Medicine, Baltimore, USA.   3 Blantyre Malaria Project, Kamuzu University of Health Sciences, Blantyre, Malawi.  4 Center for Vaccine Development and Global Health, University of Maryland School of Medicine, Baltimore, USA</a:t>
            </a:r>
            <a:r>
              <a:rPr lang="en-US" sz="36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</a:p>
          <a:p>
            <a:pPr>
              <a:spcAft>
                <a:spcPts val="600"/>
              </a:spcAft>
            </a:pPr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8BB4E28-4EE4-49E8-BBDD-6EFBA8EED012}"/>
              </a:ext>
            </a:extLst>
          </p:cNvPr>
          <p:cNvSpPr/>
          <p:nvPr/>
        </p:nvSpPr>
        <p:spPr>
          <a:xfrm>
            <a:off x="0" y="5869335"/>
            <a:ext cx="51206399" cy="365760"/>
          </a:xfrm>
          <a:prstGeom prst="rect">
            <a:avLst/>
          </a:prstGeom>
          <a:solidFill>
            <a:srgbClr val="800000"/>
          </a:solidFill>
          <a:ln>
            <a:solidFill>
              <a:srgbClr val="8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76F5818-6659-10E2-0B1E-255D76E820DF}"/>
              </a:ext>
            </a:extLst>
          </p:cNvPr>
          <p:cNvGrpSpPr/>
          <p:nvPr/>
        </p:nvGrpSpPr>
        <p:grpSpPr>
          <a:xfrm>
            <a:off x="405822" y="6534720"/>
            <a:ext cx="15679749" cy="1218441"/>
            <a:chOff x="593288" y="7564152"/>
            <a:chExt cx="15767166" cy="1468940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EC19480-EDBE-64B8-288B-33B354BDB011}"/>
                </a:ext>
              </a:extLst>
            </p:cNvPr>
            <p:cNvSpPr/>
            <p:nvPr/>
          </p:nvSpPr>
          <p:spPr>
            <a:xfrm>
              <a:off x="593288" y="7564152"/>
              <a:ext cx="15767166" cy="1468940"/>
            </a:xfrm>
            <a:prstGeom prst="rect">
              <a:avLst/>
            </a:prstGeom>
            <a:solidFill>
              <a:srgbClr val="800000"/>
            </a:solidFill>
            <a:ln>
              <a:solidFill>
                <a:srgbClr val="8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318B087-DD78-52EB-98A0-7AE932CFA5A9}"/>
                </a:ext>
              </a:extLst>
            </p:cNvPr>
            <p:cNvSpPr txBox="1"/>
            <p:nvPr/>
          </p:nvSpPr>
          <p:spPr>
            <a:xfrm>
              <a:off x="3812739" y="7619810"/>
              <a:ext cx="9657873" cy="13357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600" b="1">
                  <a:solidFill>
                    <a:schemeClr val="bg1"/>
                  </a:solidFill>
                </a:rPr>
                <a:t>INTRODUCTION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BEBF37E2-A0B6-11AE-3E1A-944F4285405A}"/>
              </a:ext>
            </a:extLst>
          </p:cNvPr>
          <p:cNvSpPr txBox="1"/>
          <p:nvPr/>
        </p:nvSpPr>
        <p:spPr>
          <a:xfrm>
            <a:off x="327259" y="8165087"/>
            <a:ext cx="15468143" cy="9341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26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600" b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Maternal antiretroviral therapy (ART) effectively prevents perinatal infection of infants born to HIV+ mothers. </a:t>
            </a:r>
          </a:p>
          <a:p>
            <a:pPr marL="685826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600" b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HIV-exposed Uninfected (HEU) Infants exhibit increased morbidity to lower respiratory tract and diarrheal infections during first six months life compared to HIV-unexposed infants. </a:t>
            </a:r>
          </a:p>
          <a:p>
            <a:pPr marL="685826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600" b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Prenatal exposure to HIV and/or ART may perturb the fetal immune system, resulting in observed increased infectious morbidity.</a:t>
            </a:r>
          </a:p>
          <a:p>
            <a:pPr marL="685826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600" b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Innate-like T cells (ILTs)[V</a:t>
            </a:r>
            <a:r>
              <a:rPr lang="el-GR" sz="3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γ</a:t>
            </a:r>
            <a:r>
              <a:rPr lang="en-US" sz="3600" b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9V</a:t>
            </a:r>
            <a:r>
              <a:rPr lang="el-GR" sz="3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δ</a:t>
            </a:r>
            <a:r>
              <a:rPr lang="en-US" sz="3600" b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 (V</a:t>
            </a:r>
            <a:r>
              <a:rPr lang="el-GR" sz="3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δ</a:t>
            </a:r>
            <a:r>
              <a:rPr lang="en-US" sz="3600" b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2) T cells, Mucosal-associated Invariant T cells (MAITs), Natural Killer T cells (NKTs)] can be activated by both microbial metabolites and innate cytokines. Their Th1-like and cytotoxic responses may play important roles against pathogens in early life</a:t>
            </a:r>
            <a:r>
              <a:rPr lang="en-US" sz="36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 </a:t>
            </a:r>
          </a:p>
          <a:p>
            <a:pPr marL="685826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600" b="1" i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The effect exerted by in utero HIV exposure on infant ILTs is unknown.</a:t>
            </a:r>
            <a:endParaRPr lang="en-US" sz="3600" b="1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685826" indent="-685826" algn="just">
              <a:buFont typeface="Arial" panose="020B0604020202020204" pitchFamily="34" charset="0"/>
              <a:buChar char="•"/>
            </a:pPr>
            <a:endParaRPr lang="en-US" sz="360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685826" indent="-685826" algn="just">
              <a:buFont typeface="Arial" panose="020B0604020202020204" pitchFamily="34" charset="0"/>
              <a:buChar char="•"/>
            </a:pPr>
            <a:endParaRPr lang="en-US" sz="360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685826" indent="-685826" algn="just">
              <a:buFont typeface="Arial" panose="020B0604020202020204" pitchFamily="34" charset="0"/>
              <a:buChar char="•"/>
            </a:pPr>
            <a:endParaRPr lang="en-US" sz="360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31" name="Picture 30" descr="A picture containing text, clothing, screenshot, cartoon&#10;&#10;Description automatically generated">
            <a:extLst>
              <a:ext uri="{FF2B5EF4-FFF2-40B4-BE49-F238E27FC236}">
                <a16:creationId xmlns:a16="http://schemas.microsoft.com/office/drawing/2014/main" id="{1A5DBD30-C344-4F70-1205-9D879BB4ABB3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41"/>
          <a:stretch/>
        </p:blipFill>
        <p:spPr>
          <a:xfrm>
            <a:off x="670411" y="17538426"/>
            <a:ext cx="14336467" cy="11125294"/>
          </a:xfrm>
          <a:prstGeom prst="rect">
            <a:avLst/>
          </a:prstGeo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6F7EBB90-A848-7E3A-3756-9E52736433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4802" y="24345480"/>
            <a:ext cx="13158913" cy="83514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A7D4CF8E-FC35-C233-F00B-7BAB16B1313C}"/>
              </a:ext>
            </a:extLst>
          </p:cNvPr>
          <p:cNvGrpSpPr/>
          <p:nvPr/>
        </p:nvGrpSpPr>
        <p:grpSpPr>
          <a:xfrm>
            <a:off x="32613811" y="6538909"/>
            <a:ext cx="18333659" cy="1254821"/>
            <a:chOff x="924898" y="7564152"/>
            <a:chExt cx="14315578" cy="146894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87FB2BA-C28E-BF6A-7596-C02907C7EA21}"/>
                </a:ext>
              </a:extLst>
            </p:cNvPr>
            <p:cNvSpPr/>
            <p:nvPr/>
          </p:nvSpPr>
          <p:spPr>
            <a:xfrm>
              <a:off x="924898" y="7564152"/>
              <a:ext cx="14315578" cy="1468940"/>
            </a:xfrm>
            <a:prstGeom prst="rect">
              <a:avLst/>
            </a:prstGeom>
            <a:solidFill>
              <a:srgbClr val="800000"/>
            </a:solidFill>
            <a:ln>
              <a:solidFill>
                <a:srgbClr val="8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01C6BAA-5DB5-B722-037C-7AD5896AF8C2}"/>
                </a:ext>
              </a:extLst>
            </p:cNvPr>
            <p:cNvSpPr txBox="1"/>
            <p:nvPr/>
          </p:nvSpPr>
          <p:spPr>
            <a:xfrm>
              <a:off x="3812739" y="7619812"/>
              <a:ext cx="7700211" cy="13357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600" b="1">
                  <a:solidFill>
                    <a:schemeClr val="bg1"/>
                  </a:solidFill>
                </a:rPr>
                <a:t>RESULTS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7BE5B000-887A-A410-D997-4E2F012DE3E2}"/>
              </a:ext>
            </a:extLst>
          </p:cNvPr>
          <p:cNvSpPr txBox="1"/>
          <p:nvPr/>
        </p:nvSpPr>
        <p:spPr>
          <a:xfrm>
            <a:off x="485300" y="30111642"/>
            <a:ext cx="1598299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600" b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Figure 1. The frequency of cord blood V</a:t>
            </a:r>
            <a:r>
              <a:rPr lang="el-GR" sz="3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δ</a:t>
            </a:r>
            <a:r>
              <a:rPr lang="en-US" sz="3600" b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 T cells ex-vivo  is higher in HEU-hi infants, but not HEU-lo infants, compared to HU infants. </a:t>
            </a:r>
            <a:endParaRPr lang="en-US" sz="1800" b="1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FCE70C-E0CD-AB01-0A1A-4EFB7F62A3D1}"/>
              </a:ext>
            </a:extLst>
          </p:cNvPr>
          <p:cNvSpPr txBox="1"/>
          <p:nvPr/>
        </p:nvSpPr>
        <p:spPr>
          <a:xfrm>
            <a:off x="6972400" y="31480017"/>
            <a:ext cx="9100738" cy="5837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ts val="432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2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After thawing, Cord Blood Mononuclear cells were resuspended in complete RPMI I640. </a:t>
            </a:r>
          </a:p>
          <a:p>
            <a:pPr marL="457200" indent="-457200" algn="just">
              <a:lnSpc>
                <a:spcPts val="432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2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3.0 x 10</a:t>
            </a:r>
            <a:r>
              <a:rPr lang="en-US" sz="3200" baseline="300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6</a:t>
            </a:r>
            <a:r>
              <a:rPr lang="en-US" sz="32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CBMCs were stimulated with PMA-ionomycin (plus protein transport inhibitor) at 37°C for six hours. </a:t>
            </a:r>
            <a:endParaRPr lang="en-US" sz="3200" baseline="3000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457200" indent="-457200" algn="just">
              <a:lnSpc>
                <a:spcPts val="432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2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After stimulation, cells were stained with fixable viability dye, and antibodies for surface and intracellular markers. </a:t>
            </a:r>
          </a:p>
          <a:p>
            <a:pPr marL="457200" indent="-457200" algn="just">
              <a:lnSpc>
                <a:spcPts val="432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2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Cells were analyzed on a BD LSR II for Conventional Flow Cytometry</a:t>
            </a:r>
          </a:p>
        </p:txBody>
      </p:sp>
      <p:pic>
        <p:nvPicPr>
          <p:cNvPr id="38" name="Picture 37" descr="A picture containing screenshot, colorfulness, text, pattern&#10;&#10;Description automatically generated">
            <a:extLst>
              <a:ext uri="{FF2B5EF4-FFF2-40B4-BE49-F238E27FC236}">
                <a16:creationId xmlns:a16="http://schemas.microsoft.com/office/drawing/2014/main" id="{D75665BB-C2A0-1AE6-805D-87210D963E6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5901" y="29396649"/>
            <a:ext cx="8323106" cy="5945076"/>
          </a:xfrm>
          <a:prstGeom prst="rect">
            <a:avLst/>
          </a:prstGeom>
        </p:spPr>
      </p:pic>
      <p:grpSp>
        <p:nvGrpSpPr>
          <p:cNvPr id="2060" name="Group 2059">
            <a:extLst>
              <a:ext uri="{FF2B5EF4-FFF2-40B4-BE49-F238E27FC236}">
                <a16:creationId xmlns:a16="http://schemas.microsoft.com/office/drawing/2014/main" id="{433AEC6D-1466-457B-723B-C83A4ABFF2EE}"/>
              </a:ext>
            </a:extLst>
          </p:cNvPr>
          <p:cNvGrpSpPr/>
          <p:nvPr/>
        </p:nvGrpSpPr>
        <p:grpSpPr>
          <a:xfrm>
            <a:off x="36910495" y="18739965"/>
            <a:ext cx="6559984" cy="5164794"/>
            <a:chOff x="37545817" y="18771622"/>
            <a:chExt cx="5765600" cy="4608610"/>
          </a:xfrm>
        </p:grpSpPr>
        <p:pic>
          <p:nvPicPr>
            <p:cNvPr id="40" name="Picture 39" descr="A picture containing text, screenshot, diagram, plot&#10;&#10;Description automatically generated">
              <a:extLst>
                <a:ext uri="{FF2B5EF4-FFF2-40B4-BE49-F238E27FC236}">
                  <a16:creationId xmlns:a16="http://schemas.microsoft.com/office/drawing/2014/main" id="{331F49EA-7D86-DD58-3698-D89949C796A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03" r="16093"/>
            <a:stretch/>
          </p:blipFill>
          <p:spPr>
            <a:xfrm>
              <a:off x="37545817" y="18771622"/>
              <a:ext cx="5765600" cy="4608610"/>
            </a:xfrm>
            <a:prstGeom prst="rect">
              <a:avLst/>
            </a:prstGeom>
          </p:spPr>
        </p:pic>
        <p:pic>
          <p:nvPicPr>
            <p:cNvPr id="44" name="Picture 43" descr="A picture containing screenshot, design&#10;&#10;Description automatically generated">
              <a:extLst>
                <a:ext uri="{FF2B5EF4-FFF2-40B4-BE49-F238E27FC236}">
                  <a16:creationId xmlns:a16="http://schemas.microsoft.com/office/drawing/2014/main" id="{B5904DA3-6C5A-F236-75D5-2165624A831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9817" r="27235"/>
            <a:stretch/>
          </p:blipFill>
          <p:spPr>
            <a:xfrm>
              <a:off x="41508663" y="19039109"/>
              <a:ext cx="1642227" cy="1474280"/>
            </a:xfrm>
            <a:prstGeom prst="rect">
              <a:avLst/>
            </a:prstGeom>
          </p:spPr>
        </p:pic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C1069B38-F83D-0C38-2A4B-9FF04B7DBCE4}"/>
              </a:ext>
            </a:extLst>
          </p:cNvPr>
          <p:cNvSpPr txBox="1"/>
          <p:nvPr/>
        </p:nvSpPr>
        <p:spPr>
          <a:xfrm>
            <a:off x="32955379" y="24066353"/>
            <a:ext cx="17010561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2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0.5x10</a:t>
            </a:r>
            <a:r>
              <a:rPr lang="en-US" sz="3200" baseline="300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6  </a:t>
            </a:r>
            <a:r>
              <a:rPr lang="en-US" sz="32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unstained lymphocytes were acquired on a  Cytek Aurora (UV16-V16-B14-R8) for autofluorescence analysis. Raw files were imported to FlowJo v10.8.1 and gated for single cells. Dimensionality visualization using all detectors was run with </a:t>
            </a:r>
            <a:r>
              <a:rPr lang="en-US" sz="320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PaCMAP</a:t>
            </a:r>
            <a:r>
              <a:rPr lang="en-US" sz="32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 Raw files and XML </a:t>
            </a:r>
            <a:r>
              <a:rPr lang="en-US" sz="320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gatings</a:t>
            </a:r>
            <a:r>
              <a:rPr lang="en-US" sz="32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were imported to R using the </a:t>
            </a:r>
            <a:r>
              <a:rPr lang="en-US" sz="320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flowCore</a:t>
            </a:r>
            <a:r>
              <a:rPr lang="en-US" sz="32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and </a:t>
            </a:r>
            <a:r>
              <a:rPr lang="en-US" sz="320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CytoML</a:t>
            </a:r>
            <a:r>
              <a:rPr lang="en-US" sz="32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packages. Autofluorescent cells were clustered with FlowSOM, and frequency across specimen and treatment conditions visualized using CATALYST package. Normalized spectral signatures and cosine similarity heatmap were generated using a custom R script.  </a:t>
            </a:r>
            <a:endParaRPr lang="en-US" sz="320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AB0EB6E-CD54-FB3F-9986-5A7761D013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013" y="31621624"/>
            <a:ext cx="7454640" cy="5760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oup 48">
            <a:extLst>
              <a:ext uri="{FF2B5EF4-FFF2-40B4-BE49-F238E27FC236}">
                <a16:creationId xmlns:a16="http://schemas.microsoft.com/office/drawing/2014/main" id="{23DA0216-A884-9F1B-22A5-788D5D9D511E}"/>
              </a:ext>
            </a:extLst>
          </p:cNvPr>
          <p:cNvGrpSpPr/>
          <p:nvPr/>
        </p:nvGrpSpPr>
        <p:grpSpPr>
          <a:xfrm>
            <a:off x="24108201" y="8379661"/>
            <a:ext cx="6914659" cy="6030433"/>
            <a:chOff x="245765" y="29927324"/>
            <a:chExt cx="7155965" cy="6459483"/>
          </a:xfrm>
        </p:grpSpPr>
        <p:pic>
          <p:nvPicPr>
            <p:cNvPr id="42" name="Picture 41" descr="A picture containing text, screenshot, diagram&#10;&#10;Description automatically generated">
              <a:extLst>
                <a:ext uri="{FF2B5EF4-FFF2-40B4-BE49-F238E27FC236}">
                  <a16:creationId xmlns:a16="http://schemas.microsoft.com/office/drawing/2014/main" id="{12F5DD3C-DB8E-0222-FEA9-0BC2E0DB698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071" r="29252" b="51248"/>
            <a:stretch/>
          </p:blipFill>
          <p:spPr>
            <a:xfrm>
              <a:off x="245765" y="29927324"/>
              <a:ext cx="7155965" cy="5591120"/>
            </a:xfrm>
            <a:prstGeom prst="rect">
              <a:avLst/>
            </a:prstGeom>
          </p:spPr>
        </p:pic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07E061C-FA9E-07AB-48D1-04E30E0777F2}"/>
                </a:ext>
              </a:extLst>
            </p:cNvPr>
            <p:cNvSpPr txBox="1"/>
            <p:nvPr/>
          </p:nvSpPr>
          <p:spPr>
            <a:xfrm>
              <a:off x="2016254" y="29927324"/>
              <a:ext cx="3816016" cy="523220"/>
            </a:xfrm>
            <a:prstGeom prst="rect">
              <a:avLst/>
            </a:prstGeom>
            <a:solidFill>
              <a:srgbClr val="E1F2EF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Thaw and Count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2CEFBA09-2FD2-197C-A4EA-DA1699F0C7BF}"/>
                </a:ext>
              </a:extLst>
            </p:cNvPr>
            <p:cNvSpPr txBox="1"/>
            <p:nvPr/>
          </p:nvSpPr>
          <p:spPr>
            <a:xfrm>
              <a:off x="1336458" y="35863587"/>
              <a:ext cx="5037595" cy="523220"/>
            </a:xfrm>
            <a:prstGeom prst="rect">
              <a:avLst/>
            </a:prstGeom>
            <a:solidFill>
              <a:srgbClr val="F6F4D6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Polyclonal Stimulation</a:t>
              </a:r>
            </a:p>
          </p:txBody>
        </p:sp>
      </p:grpSp>
      <p:grpSp>
        <p:nvGrpSpPr>
          <p:cNvPr id="1076" name="Group 1075">
            <a:extLst>
              <a:ext uri="{FF2B5EF4-FFF2-40B4-BE49-F238E27FC236}">
                <a16:creationId xmlns:a16="http://schemas.microsoft.com/office/drawing/2014/main" id="{07F706B6-6175-3426-25BA-FA4CFA7AC794}"/>
              </a:ext>
            </a:extLst>
          </p:cNvPr>
          <p:cNvGrpSpPr/>
          <p:nvPr/>
        </p:nvGrpSpPr>
        <p:grpSpPr>
          <a:xfrm>
            <a:off x="23069657" y="14741442"/>
            <a:ext cx="9185995" cy="6955985"/>
            <a:chOff x="23711881" y="6732281"/>
            <a:chExt cx="9506565" cy="7450885"/>
          </a:xfrm>
        </p:grpSpPr>
        <p:sp>
          <p:nvSpPr>
            <p:cNvPr id="1037" name="Isosceles Triangle 1036">
              <a:extLst>
                <a:ext uri="{FF2B5EF4-FFF2-40B4-BE49-F238E27FC236}">
                  <a16:creationId xmlns:a16="http://schemas.microsoft.com/office/drawing/2014/main" id="{13D502B2-9AB9-076F-37C6-9DE97245566A}"/>
                </a:ext>
              </a:extLst>
            </p:cNvPr>
            <p:cNvSpPr/>
            <p:nvPr/>
          </p:nvSpPr>
          <p:spPr>
            <a:xfrm flipV="1">
              <a:off x="23987364" y="12371525"/>
              <a:ext cx="8885359" cy="1147353"/>
            </a:xfrm>
            <a:prstGeom prst="triangle">
              <a:avLst/>
            </a:prstGeom>
            <a:solidFill>
              <a:srgbClr val="FCE5EA"/>
            </a:solidFill>
            <a:ln>
              <a:solidFill>
                <a:srgbClr val="FCE5E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CB43A6AD-D780-A53A-1500-C4FA4BFB33A6}"/>
                </a:ext>
              </a:extLst>
            </p:cNvPr>
            <p:cNvSpPr txBox="1"/>
            <p:nvPr/>
          </p:nvSpPr>
          <p:spPr>
            <a:xfrm>
              <a:off x="25896902" y="6732281"/>
              <a:ext cx="5037595" cy="523220"/>
            </a:xfrm>
            <a:prstGeom prst="rect">
              <a:avLst/>
            </a:prstGeom>
            <a:solidFill>
              <a:srgbClr val="FCE5EA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Flow Cytometry Staining</a:t>
              </a:r>
            </a:p>
          </p:txBody>
        </p:sp>
        <p:pic>
          <p:nvPicPr>
            <p:cNvPr id="48" name="Picture 47" descr="A screenshot of a computer&#10;&#10;Description automatically generated with low confidence">
              <a:extLst>
                <a:ext uri="{FF2B5EF4-FFF2-40B4-BE49-F238E27FC236}">
                  <a16:creationId xmlns:a16="http://schemas.microsoft.com/office/drawing/2014/main" id="{99718F00-E30B-21B7-B3C4-E29997A99BE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624" t="6123" r="19263" b="41518"/>
            <a:stretch/>
          </p:blipFill>
          <p:spPr>
            <a:xfrm>
              <a:off x="23711881" y="7053272"/>
              <a:ext cx="9506565" cy="5270129"/>
            </a:xfrm>
            <a:prstGeom prst="rect">
              <a:avLst/>
            </a:prstGeom>
          </p:spPr>
        </p:pic>
        <p:pic>
          <p:nvPicPr>
            <p:cNvPr id="51" name="Picture 50" descr="A screenshot of a computer&#10;&#10;Description automatically generated with low confidence">
              <a:extLst>
                <a:ext uri="{FF2B5EF4-FFF2-40B4-BE49-F238E27FC236}">
                  <a16:creationId xmlns:a16="http://schemas.microsoft.com/office/drawing/2014/main" id="{05B584B5-7D55-4992-5F2D-47A2D8BA4C5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617" t="61328" r="31232" b="18679"/>
            <a:stretch/>
          </p:blipFill>
          <p:spPr>
            <a:xfrm>
              <a:off x="27256308" y="12458783"/>
              <a:ext cx="2113352" cy="1724383"/>
            </a:xfrm>
            <a:prstGeom prst="rect">
              <a:avLst/>
            </a:prstGeom>
          </p:spPr>
        </p:pic>
      </p:grpSp>
      <p:grpSp>
        <p:nvGrpSpPr>
          <p:cNvPr id="1077" name="Group 1076">
            <a:extLst>
              <a:ext uri="{FF2B5EF4-FFF2-40B4-BE49-F238E27FC236}">
                <a16:creationId xmlns:a16="http://schemas.microsoft.com/office/drawing/2014/main" id="{D605A965-1415-CCAB-80E8-24821F2770CF}"/>
              </a:ext>
            </a:extLst>
          </p:cNvPr>
          <p:cNvGrpSpPr/>
          <p:nvPr/>
        </p:nvGrpSpPr>
        <p:grpSpPr>
          <a:xfrm>
            <a:off x="16553020" y="8009109"/>
            <a:ext cx="6494872" cy="12342018"/>
            <a:chOff x="16791442" y="6496163"/>
            <a:chExt cx="5287443" cy="11900252"/>
          </a:xfrm>
        </p:grpSpPr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0D04A04D-CA86-8067-4471-6916BEE5730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3"/>
            <a:srcRect t="78814"/>
            <a:stretch/>
          </p:blipFill>
          <p:spPr>
            <a:xfrm>
              <a:off x="16805770" y="15899781"/>
              <a:ext cx="5252960" cy="2496634"/>
            </a:xfrm>
            <a:prstGeom prst="rect">
              <a:avLst/>
            </a:prstGeom>
          </p:spPr>
        </p:pic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14E06B1F-649D-7624-5A82-5403470CDB8A}"/>
                </a:ext>
              </a:extLst>
            </p:cNvPr>
            <p:cNvGrpSpPr/>
            <p:nvPr/>
          </p:nvGrpSpPr>
          <p:grpSpPr>
            <a:xfrm>
              <a:off x="16791442" y="13092369"/>
              <a:ext cx="5287443" cy="2781963"/>
              <a:chOff x="17832978" y="18222312"/>
              <a:chExt cx="5907883" cy="3108404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15519FC6-0A2E-E8D8-D218-7D5696A4329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3"/>
              <a:srcRect t="55612" b="20899"/>
              <a:stretch/>
            </p:blipFill>
            <p:spPr>
              <a:xfrm>
                <a:off x="17832978" y="18237797"/>
                <a:ext cx="5907883" cy="3092919"/>
              </a:xfrm>
              <a:prstGeom prst="rect">
                <a:avLst/>
              </a:prstGeom>
            </p:spPr>
          </p:pic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862B2054-5650-0AAA-0E7E-96AAEEDFC0C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040590" y="18222312"/>
                <a:ext cx="5623560" cy="6948"/>
              </a:xfrm>
              <a:prstGeom prst="line">
                <a:avLst/>
              </a:prstGeom>
              <a:ln w="38100">
                <a:solidFill>
                  <a:srgbClr val="0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FFE5DA1F-5C67-F7D4-A8D5-17382B1C1F0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3"/>
            <a:srcRect t="25268" b="44880"/>
            <a:stretch/>
          </p:blipFill>
          <p:spPr>
            <a:xfrm>
              <a:off x="16791443" y="9485822"/>
              <a:ext cx="5272074" cy="3657151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65133D32-3D47-4680-9598-75E32E6AE7F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3"/>
            <a:srcRect b="74517"/>
            <a:stretch/>
          </p:blipFill>
          <p:spPr>
            <a:xfrm>
              <a:off x="16791442" y="6496163"/>
              <a:ext cx="5272074" cy="2997585"/>
            </a:xfrm>
            <a:prstGeom prst="rect">
              <a:avLst/>
            </a:prstGeom>
          </p:spPr>
        </p:pic>
      </p:grpSp>
      <p:sp>
        <p:nvSpPr>
          <p:cNvPr id="1039" name="TextBox 1038">
            <a:extLst>
              <a:ext uri="{FF2B5EF4-FFF2-40B4-BE49-F238E27FC236}">
                <a16:creationId xmlns:a16="http://schemas.microsoft.com/office/drawing/2014/main" id="{26824AC8-572C-DC89-BA96-93AA16938447}"/>
              </a:ext>
            </a:extLst>
          </p:cNvPr>
          <p:cNvSpPr txBox="1"/>
          <p:nvPr/>
        </p:nvSpPr>
        <p:spPr>
          <a:xfrm>
            <a:off x="16886044" y="35073708"/>
            <a:ext cx="548887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All Study Participants</a:t>
            </a:r>
          </a:p>
          <a:p>
            <a:pPr algn="ctr"/>
            <a:r>
              <a:rPr lang="en-US" sz="32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The Blantyre Malaria Project</a:t>
            </a:r>
            <a:endParaRPr lang="en-US" sz="3200" b="1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just"/>
            <a:endParaRPr lang="en-US" sz="280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just"/>
            <a:endParaRPr lang="en-US" sz="2800" b="1"/>
          </a:p>
        </p:txBody>
      </p:sp>
      <p:grpSp>
        <p:nvGrpSpPr>
          <p:cNvPr id="1040" name="Group 1039">
            <a:extLst>
              <a:ext uri="{FF2B5EF4-FFF2-40B4-BE49-F238E27FC236}">
                <a16:creationId xmlns:a16="http://schemas.microsoft.com/office/drawing/2014/main" id="{B1193AF1-94E0-32B6-A2B5-79F58485EDA1}"/>
              </a:ext>
            </a:extLst>
          </p:cNvPr>
          <p:cNvGrpSpPr/>
          <p:nvPr/>
        </p:nvGrpSpPr>
        <p:grpSpPr>
          <a:xfrm>
            <a:off x="14663011" y="33492681"/>
            <a:ext cx="20095429" cy="1404510"/>
            <a:chOff x="21542102" y="8033221"/>
            <a:chExt cx="4875080" cy="1508840"/>
          </a:xfrm>
        </p:grpSpPr>
        <p:sp>
          <p:nvSpPr>
            <p:cNvPr id="1041" name="Rectangle 1040">
              <a:extLst>
                <a:ext uri="{FF2B5EF4-FFF2-40B4-BE49-F238E27FC236}">
                  <a16:creationId xmlns:a16="http://schemas.microsoft.com/office/drawing/2014/main" id="{8F286099-1BBF-A25C-879C-6E7DD8561338}"/>
                </a:ext>
              </a:extLst>
            </p:cNvPr>
            <p:cNvSpPr/>
            <p:nvPr/>
          </p:nvSpPr>
          <p:spPr>
            <a:xfrm>
              <a:off x="22081402" y="8033221"/>
              <a:ext cx="3806239" cy="1330627"/>
            </a:xfrm>
            <a:prstGeom prst="rect">
              <a:avLst/>
            </a:prstGeom>
            <a:solidFill>
              <a:srgbClr val="800000"/>
            </a:solidFill>
            <a:ln>
              <a:solidFill>
                <a:srgbClr val="8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2" name="TextBox 1041">
              <a:extLst>
                <a:ext uri="{FF2B5EF4-FFF2-40B4-BE49-F238E27FC236}">
                  <a16:creationId xmlns:a16="http://schemas.microsoft.com/office/drawing/2014/main" id="{AC8172CB-842F-A073-7F8F-B000279D0878}"/>
                </a:ext>
              </a:extLst>
            </p:cNvPr>
            <p:cNvSpPr txBox="1"/>
            <p:nvPr/>
          </p:nvSpPr>
          <p:spPr>
            <a:xfrm>
              <a:off x="21542102" y="8060373"/>
              <a:ext cx="4875080" cy="14816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600" b="1">
                  <a:solidFill>
                    <a:schemeClr val="bg1"/>
                  </a:solidFill>
                </a:rPr>
                <a:t>ACKNOWLEDGEMENTS</a:t>
              </a:r>
            </a:p>
            <a:p>
              <a:pPr algn="ctr"/>
              <a:endParaRPr lang="en-US" sz="1600" b="1">
                <a:solidFill>
                  <a:schemeClr val="bg1"/>
                </a:solidFill>
              </a:endParaRPr>
            </a:p>
          </p:txBody>
        </p:sp>
      </p:grpSp>
      <p:sp>
        <p:nvSpPr>
          <p:cNvPr id="1043" name="TextBox 1042">
            <a:extLst>
              <a:ext uri="{FF2B5EF4-FFF2-40B4-BE49-F238E27FC236}">
                <a16:creationId xmlns:a16="http://schemas.microsoft.com/office/drawing/2014/main" id="{91969DF1-2E92-3447-8C32-114B95D5F10C}"/>
              </a:ext>
            </a:extLst>
          </p:cNvPr>
          <p:cNvSpPr txBox="1"/>
          <p:nvPr/>
        </p:nvSpPr>
        <p:spPr>
          <a:xfrm>
            <a:off x="28395447" y="35024055"/>
            <a:ext cx="3954324" cy="2000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U01 HD092308</a:t>
            </a:r>
          </a:p>
          <a:p>
            <a:pPr algn="ctr"/>
            <a:r>
              <a:rPr lang="en-US" sz="3200" i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R61 HD103066-01 </a:t>
            </a:r>
          </a:p>
          <a:p>
            <a:pPr algn="ctr"/>
            <a:r>
              <a:rPr lang="en-US" sz="3200" b="0" i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P30CA134274</a:t>
            </a:r>
            <a:endParaRPr lang="en-US" sz="320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r"/>
            <a:endParaRPr lang="en-US" sz="2800" b="1"/>
          </a:p>
        </p:txBody>
      </p:sp>
      <p:grpSp>
        <p:nvGrpSpPr>
          <p:cNvPr id="1045" name="Group 1044">
            <a:extLst>
              <a:ext uri="{FF2B5EF4-FFF2-40B4-BE49-F238E27FC236}">
                <a16:creationId xmlns:a16="http://schemas.microsoft.com/office/drawing/2014/main" id="{6727CB91-42DE-2233-13D0-642AC28370F3}"/>
              </a:ext>
            </a:extLst>
          </p:cNvPr>
          <p:cNvGrpSpPr/>
          <p:nvPr/>
        </p:nvGrpSpPr>
        <p:grpSpPr>
          <a:xfrm>
            <a:off x="327256" y="16253544"/>
            <a:ext cx="15758313" cy="1218441"/>
            <a:chOff x="15381514" y="8206348"/>
            <a:chExt cx="10221686" cy="1330627"/>
          </a:xfrm>
        </p:grpSpPr>
        <p:sp>
          <p:nvSpPr>
            <p:cNvPr id="1046" name="Rectangle 1045">
              <a:extLst>
                <a:ext uri="{FF2B5EF4-FFF2-40B4-BE49-F238E27FC236}">
                  <a16:creationId xmlns:a16="http://schemas.microsoft.com/office/drawing/2014/main" id="{70965DB6-0BAF-4F5E-E089-C33927175E03}"/>
                </a:ext>
              </a:extLst>
            </p:cNvPr>
            <p:cNvSpPr/>
            <p:nvPr/>
          </p:nvSpPr>
          <p:spPr>
            <a:xfrm>
              <a:off x="15381514" y="8206348"/>
              <a:ext cx="10221686" cy="1330627"/>
            </a:xfrm>
            <a:prstGeom prst="rect">
              <a:avLst/>
            </a:prstGeom>
            <a:solidFill>
              <a:srgbClr val="800000"/>
            </a:solidFill>
            <a:ln>
              <a:solidFill>
                <a:srgbClr val="8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7" name="TextBox 1046">
              <a:extLst>
                <a:ext uri="{FF2B5EF4-FFF2-40B4-BE49-F238E27FC236}">
                  <a16:creationId xmlns:a16="http://schemas.microsoft.com/office/drawing/2014/main" id="{EB54581B-EA52-9E6F-D79D-FB12B9273678}"/>
                </a:ext>
              </a:extLst>
            </p:cNvPr>
            <p:cNvSpPr txBox="1"/>
            <p:nvPr/>
          </p:nvSpPr>
          <p:spPr>
            <a:xfrm>
              <a:off x="15604103" y="8238421"/>
              <a:ext cx="9682265" cy="12100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600" b="1">
                  <a:solidFill>
                    <a:schemeClr val="bg1"/>
                  </a:solidFill>
                </a:rPr>
                <a:t>STUDY POPULATION: MALAWIAN COHORT</a:t>
              </a:r>
              <a:endParaRPr lang="en-US" sz="1600" b="1">
                <a:solidFill>
                  <a:schemeClr val="bg1"/>
                </a:solidFill>
              </a:endParaRPr>
            </a:p>
          </p:txBody>
        </p:sp>
      </p:grpSp>
      <p:grpSp>
        <p:nvGrpSpPr>
          <p:cNvPr id="1063" name="Group 1062">
            <a:extLst>
              <a:ext uri="{FF2B5EF4-FFF2-40B4-BE49-F238E27FC236}">
                <a16:creationId xmlns:a16="http://schemas.microsoft.com/office/drawing/2014/main" id="{01362164-C64D-66D6-FE4D-AEDF5EA760FB}"/>
              </a:ext>
            </a:extLst>
          </p:cNvPr>
          <p:cNvGrpSpPr/>
          <p:nvPr/>
        </p:nvGrpSpPr>
        <p:grpSpPr>
          <a:xfrm>
            <a:off x="485300" y="28661920"/>
            <a:ext cx="15982990" cy="1218441"/>
            <a:chOff x="924898" y="7564150"/>
            <a:chExt cx="14315578" cy="1468940"/>
          </a:xfrm>
        </p:grpSpPr>
        <p:sp>
          <p:nvSpPr>
            <p:cNvPr id="1064" name="Rectangle 1063">
              <a:extLst>
                <a:ext uri="{FF2B5EF4-FFF2-40B4-BE49-F238E27FC236}">
                  <a16:creationId xmlns:a16="http://schemas.microsoft.com/office/drawing/2014/main" id="{78E8A9EF-5B30-3264-B7A1-B8E4DDA8E14F}"/>
                </a:ext>
              </a:extLst>
            </p:cNvPr>
            <p:cNvSpPr/>
            <p:nvPr/>
          </p:nvSpPr>
          <p:spPr>
            <a:xfrm>
              <a:off x="924898" y="7564150"/>
              <a:ext cx="14315578" cy="1468940"/>
            </a:xfrm>
            <a:prstGeom prst="rect">
              <a:avLst/>
            </a:prstGeom>
            <a:solidFill>
              <a:srgbClr val="800000"/>
            </a:solidFill>
            <a:ln>
              <a:solidFill>
                <a:srgbClr val="8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5" name="TextBox 1064">
              <a:extLst>
                <a:ext uri="{FF2B5EF4-FFF2-40B4-BE49-F238E27FC236}">
                  <a16:creationId xmlns:a16="http://schemas.microsoft.com/office/drawing/2014/main" id="{87455680-54E1-E9D4-630A-EBEA85D88819}"/>
                </a:ext>
              </a:extLst>
            </p:cNvPr>
            <p:cNvSpPr txBox="1"/>
            <p:nvPr/>
          </p:nvSpPr>
          <p:spPr>
            <a:xfrm>
              <a:off x="4232581" y="7619812"/>
              <a:ext cx="7700211" cy="13357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600" b="1">
                  <a:solidFill>
                    <a:schemeClr val="bg1"/>
                  </a:solidFill>
                </a:rPr>
                <a:t>RESULTS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grpSp>
        <p:nvGrpSpPr>
          <p:cNvPr id="1066" name="Group 1065">
            <a:extLst>
              <a:ext uri="{FF2B5EF4-FFF2-40B4-BE49-F238E27FC236}">
                <a16:creationId xmlns:a16="http://schemas.microsoft.com/office/drawing/2014/main" id="{4E15BB10-4393-F748-2AE8-D6A55FB8919A}"/>
              </a:ext>
            </a:extLst>
          </p:cNvPr>
          <p:cNvGrpSpPr/>
          <p:nvPr/>
        </p:nvGrpSpPr>
        <p:grpSpPr>
          <a:xfrm>
            <a:off x="32613811" y="27866705"/>
            <a:ext cx="18333659" cy="1218441"/>
            <a:chOff x="924898" y="7564152"/>
            <a:chExt cx="14315578" cy="1468940"/>
          </a:xfrm>
        </p:grpSpPr>
        <p:sp>
          <p:nvSpPr>
            <p:cNvPr id="1067" name="Rectangle 1066">
              <a:extLst>
                <a:ext uri="{FF2B5EF4-FFF2-40B4-BE49-F238E27FC236}">
                  <a16:creationId xmlns:a16="http://schemas.microsoft.com/office/drawing/2014/main" id="{800EC390-3D4C-7459-B933-1EFF7E3860E4}"/>
                </a:ext>
              </a:extLst>
            </p:cNvPr>
            <p:cNvSpPr/>
            <p:nvPr/>
          </p:nvSpPr>
          <p:spPr>
            <a:xfrm>
              <a:off x="924898" y="7564152"/>
              <a:ext cx="14315578" cy="1468940"/>
            </a:xfrm>
            <a:prstGeom prst="rect">
              <a:avLst/>
            </a:prstGeom>
            <a:solidFill>
              <a:srgbClr val="800000"/>
            </a:solidFill>
            <a:ln>
              <a:solidFill>
                <a:srgbClr val="8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8" name="TextBox 1067">
              <a:extLst>
                <a:ext uri="{FF2B5EF4-FFF2-40B4-BE49-F238E27FC236}">
                  <a16:creationId xmlns:a16="http://schemas.microsoft.com/office/drawing/2014/main" id="{1033DC1D-FFEE-D6E7-3EAC-569AB4B47A03}"/>
                </a:ext>
              </a:extLst>
            </p:cNvPr>
            <p:cNvSpPr txBox="1"/>
            <p:nvPr/>
          </p:nvSpPr>
          <p:spPr>
            <a:xfrm>
              <a:off x="4232581" y="7619812"/>
              <a:ext cx="7700211" cy="13357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600" b="1">
                  <a:solidFill>
                    <a:schemeClr val="bg1"/>
                  </a:solidFill>
                </a:rPr>
                <a:t>FUTURE DIRECTIONS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sp>
        <p:nvSpPr>
          <p:cNvPr id="1073" name="TextBox 1072">
            <a:extLst>
              <a:ext uri="{FF2B5EF4-FFF2-40B4-BE49-F238E27FC236}">
                <a16:creationId xmlns:a16="http://schemas.microsoft.com/office/drawing/2014/main" id="{3F430E6E-2F35-8E53-F336-D246A1F6C40B}"/>
              </a:ext>
            </a:extLst>
          </p:cNvPr>
          <p:cNvSpPr txBox="1"/>
          <p:nvPr/>
        </p:nvSpPr>
        <p:spPr>
          <a:xfrm>
            <a:off x="32784964" y="7953638"/>
            <a:ext cx="1726875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Figure 3. The frequency of Th1-cytokine producing cells is higher ex-vivo in cord blood Innate-like T cell subsets than conventional T cells</a:t>
            </a:r>
            <a:endParaRPr lang="en-US" sz="1050" b="1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9B061E07-0F70-9345-E295-945D02D9E8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96660" y="9098887"/>
            <a:ext cx="15807612" cy="7252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82" name="TextBox 1081">
            <a:extLst>
              <a:ext uri="{FF2B5EF4-FFF2-40B4-BE49-F238E27FC236}">
                <a16:creationId xmlns:a16="http://schemas.microsoft.com/office/drawing/2014/main" id="{D042F1A7-7DE8-BC09-14B8-F0D36C229C39}"/>
              </a:ext>
            </a:extLst>
          </p:cNvPr>
          <p:cNvSpPr txBox="1"/>
          <p:nvPr/>
        </p:nvSpPr>
        <p:spPr>
          <a:xfrm>
            <a:off x="33173133" y="16385082"/>
            <a:ext cx="1625466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PBMCs and CBMCs were treated in the same manner as described in Figure 1. Cells acquired on Cytek Aurora (UV16-V16-B14-R8) for Spectral Flow Cytometry. </a:t>
            </a:r>
          </a:p>
        </p:txBody>
      </p:sp>
      <p:sp>
        <p:nvSpPr>
          <p:cNvPr id="1083" name="TextBox 1082">
            <a:extLst>
              <a:ext uri="{FF2B5EF4-FFF2-40B4-BE49-F238E27FC236}">
                <a16:creationId xmlns:a16="http://schemas.microsoft.com/office/drawing/2014/main" id="{83EDE684-FC2F-6102-E058-7EAF8B5549C3}"/>
              </a:ext>
            </a:extLst>
          </p:cNvPr>
          <p:cNvSpPr txBox="1"/>
          <p:nvPr/>
        </p:nvSpPr>
        <p:spPr>
          <a:xfrm>
            <a:off x="17409245" y="32693293"/>
            <a:ext cx="1479837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PBMCs and CBMCs were treated in the same manner as described in Figure 1 </a:t>
            </a:r>
          </a:p>
        </p:txBody>
      </p:sp>
      <p:pic>
        <p:nvPicPr>
          <p:cNvPr id="1084" name="Picture 4">
            <a:extLst>
              <a:ext uri="{FF2B5EF4-FFF2-40B4-BE49-F238E27FC236}">
                <a16:creationId xmlns:a16="http://schemas.microsoft.com/office/drawing/2014/main" id="{B8F4EB84-E601-7B5E-19C1-A982957B7B4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8" t="50475" r="73686"/>
          <a:stretch/>
        </p:blipFill>
        <p:spPr bwMode="auto">
          <a:xfrm>
            <a:off x="34219065" y="29466807"/>
            <a:ext cx="6116297" cy="6177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48" name="TextBox 2047">
            <a:extLst>
              <a:ext uri="{FF2B5EF4-FFF2-40B4-BE49-F238E27FC236}">
                <a16:creationId xmlns:a16="http://schemas.microsoft.com/office/drawing/2014/main" id="{3604E329-FBE9-2852-76E1-96B97E5F5476}"/>
              </a:ext>
            </a:extLst>
          </p:cNvPr>
          <p:cNvSpPr txBox="1"/>
          <p:nvPr/>
        </p:nvSpPr>
        <p:spPr>
          <a:xfrm>
            <a:off x="33571586" y="17544596"/>
            <a:ext cx="1534274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Figure 4. </a:t>
            </a:r>
            <a:r>
              <a:rPr lang="en-US" sz="3600" b="1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Autofluorescences</a:t>
            </a:r>
            <a:r>
              <a:rPr lang="en-US" sz="3600" b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of cryopreserved cord blood mononuclear cells are similar across specimens and is comparable to adult PBMCs. </a:t>
            </a:r>
            <a:endParaRPr lang="en-US" sz="1050" b="1"/>
          </a:p>
        </p:txBody>
      </p:sp>
      <p:grpSp>
        <p:nvGrpSpPr>
          <p:cNvPr id="2059" name="Group 2058">
            <a:extLst>
              <a:ext uri="{FF2B5EF4-FFF2-40B4-BE49-F238E27FC236}">
                <a16:creationId xmlns:a16="http://schemas.microsoft.com/office/drawing/2014/main" id="{E84D4952-4D4B-D057-CB05-73A49D8EB181}"/>
              </a:ext>
            </a:extLst>
          </p:cNvPr>
          <p:cNvGrpSpPr/>
          <p:nvPr/>
        </p:nvGrpSpPr>
        <p:grpSpPr>
          <a:xfrm>
            <a:off x="17346491" y="36810078"/>
            <a:ext cx="15161831" cy="886320"/>
            <a:chOff x="15495177" y="36012264"/>
            <a:chExt cx="15161831" cy="886320"/>
          </a:xfrm>
        </p:grpSpPr>
        <p:grpSp>
          <p:nvGrpSpPr>
            <p:cNvPr id="2051" name="Group 2050">
              <a:extLst>
                <a:ext uri="{FF2B5EF4-FFF2-40B4-BE49-F238E27FC236}">
                  <a16:creationId xmlns:a16="http://schemas.microsoft.com/office/drawing/2014/main" id="{E907716C-60E3-B82B-4ED0-5FEF247B7E3F}"/>
                </a:ext>
              </a:extLst>
            </p:cNvPr>
            <p:cNvGrpSpPr/>
            <p:nvPr/>
          </p:nvGrpSpPr>
          <p:grpSpPr>
            <a:xfrm>
              <a:off x="21689708" y="36159910"/>
              <a:ext cx="4404651" cy="609610"/>
              <a:chOff x="44620675" y="36134884"/>
              <a:chExt cx="4404651" cy="609610"/>
            </a:xfrm>
          </p:grpSpPr>
          <p:pic>
            <p:nvPicPr>
              <p:cNvPr id="9" name="Picture 8" descr="A picture containing cat, mammal, silhouette&#10;&#10;Description automatically generated">
                <a:extLst>
                  <a:ext uri="{FF2B5EF4-FFF2-40B4-BE49-F238E27FC236}">
                    <a16:creationId xmlns:a16="http://schemas.microsoft.com/office/drawing/2014/main" id="{D3563AE1-3591-ADAD-7D86-18B5C07D6FE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4620675" y="36134884"/>
                <a:ext cx="609610" cy="609610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6AAEE5A-9E52-EE5D-0802-0FBC416E0B69}"/>
                  </a:ext>
                </a:extLst>
              </p:cNvPr>
              <p:cNvSpPr txBox="1"/>
              <p:nvPr/>
            </p:nvSpPr>
            <p:spPr>
              <a:xfrm>
                <a:off x="45287849" y="36157735"/>
                <a:ext cx="373747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davidrach.github.io</a:t>
                </a:r>
              </a:p>
            </p:txBody>
          </p:sp>
        </p:grpSp>
        <p:grpSp>
          <p:nvGrpSpPr>
            <p:cNvPr id="2053" name="Group 2052">
              <a:extLst>
                <a:ext uri="{FF2B5EF4-FFF2-40B4-BE49-F238E27FC236}">
                  <a16:creationId xmlns:a16="http://schemas.microsoft.com/office/drawing/2014/main" id="{E69B74C5-4B58-FDF8-22C2-BC4324ED60D9}"/>
                </a:ext>
              </a:extLst>
            </p:cNvPr>
            <p:cNvGrpSpPr/>
            <p:nvPr/>
          </p:nvGrpSpPr>
          <p:grpSpPr>
            <a:xfrm>
              <a:off x="26379343" y="36176182"/>
              <a:ext cx="4277665" cy="584775"/>
              <a:chOff x="45707358" y="36729856"/>
              <a:chExt cx="4277665" cy="584775"/>
            </a:xfrm>
          </p:grpSpPr>
          <p:pic>
            <p:nvPicPr>
              <p:cNvPr id="17" name="Picture 16" descr="A picture containing black, darkness&#10;&#10;Description automatically generated">
                <a:extLst>
                  <a:ext uri="{FF2B5EF4-FFF2-40B4-BE49-F238E27FC236}">
                    <a16:creationId xmlns:a16="http://schemas.microsoft.com/office/drawing/2014/main" id="{C786E3F0-7B88-7F9C-17D0-081D7C3E92E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5707358" y="36776726"/>
                <a:ext cx="609610" cy="501720"/>
              </a:xfrm>
              <a:prstGeom prst="rect">
                <a:avLst/>
              </a:prstGeom>
            </p:spPr>
          </p:pic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00821B0-6DD9-1722-5DFA-039318E71FC5}"/>
                  </a:ext>
                </a:extLst>
              </p:cNvPr>
              <p:cNvSpPr txBox="1"/>
              <p:nvPr/>
            </p:nvSpPr>
            <p:spPr>
              <a:xfrm>
                <a:off x="46376886" y="36729856"/>
                <a:ext cx="360813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b="0" i="0"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@DavidRach2</a:t>
                </a:r>
                <a:endParaRPr lang="en-US" sz="320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</p:grpSp>
        <p:grpSp>
          <p:nvGrpSpPr>
            <p:cNvPr id="2058" name="Group 2057">
              <a:extLst>
                <a:ext uri="{FF2B5EF4-FFF2-40B4-BE49-F238E27FC236}">
                  <a16:creationId xmlns:a16="http://schemas.microsoft.com/office/drawing/2014/main" id="{9554F56A-4FCD-4625-155C-C61A9244617D}"/>
                </a:ext>
              </a:extLst>
            </p:cNvPr>
            <p:cNvGrpSpPr/>
            <p:nvPr/>
          </p:nvGrpSpPr>
          <p:grpSpPr>
            <a:xfrm>
              <a:off x="15495177" y="36012264"/>
              <a:ext cx="5977969" cy="886320"/>
              <a:chOff x="24238881" y="36640071"/>
              <a:chExt cx="5977969" cy="886320"/>
            </a:xfrm>
          </p:grpSpPr>
          <p:pic>
            <p:nvPicPr>
              <p:cNvPr id="3078" name="Picture 6" descr="Mail Icon Images – Browse 845,814 Stock Photos, Vectors, and ...">
                <a:extLst>
                  <a:ext uri="{FF2B5EF4-FFF2-40B4-BE49-F238E27FC236}">
                    <a16:creationId xmlns:a16="http://schemas.microsoft.com/office/drawing/2014/main" id="{3419E5C4-73FC-1472-188F-D4D47883678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3434" t="4390" b="13613"/>
              <a:stretch/>
            </p:blipFill>
            <p:spPr bwMode="auto">
              <a:xfrm>
                <a:off x="24238881" y="36640071"/>
                <a:ext cx="988468" cy="88632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057" name="TextBox 2056">
                <a:extLst>
                  <a:ext uri="{FF2B5EF4-FFF2-40B4-BE49-F238E27FC236}">
                    <a16:creationId xmlns:a16="http://schemas.microsoft.com/office/drawing/2014/main" id="{8A84DC0B-EDEC-2CC7-BB41-891CEA8E062A}"/>
                  </a:ext>
                </a:extLst>
              </p:cNvPr>
              <p:cNvSpPr txBox="1"/>
              <p:nvPr/>
            </p:nvSpPr>
            <p:spPr>
              <a:xfrm>
                <a:off x="25043750" y="36830244"/>
                <a:ext cx="517310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b="0" i="0"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drach@som.umaryland.edu</a:t>
                </a:r>
                <a:endParaRPr lang="en-US" sz="320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</p:grpSp>
      </p:grpSp>
      <p:grpSp>
        <p:nvGrpSpPr>
          <p:cNvPr id="2061" name="Group 2060">
            <a:extLst>
              <a:ext uri="{FF2B5EF4-FFF2-40B4-BE49-F238E27FC236}">
                <a16:creationId xmlns:a16="http://schemas.microsoft.com/office/drawing/2014/main" id="{CBD76349-94D3-2895-0B3F-06F2D9B33A62}"/>
              </a:ext>
            </a:extLst>
          </p:cNvPr>
          <p:cNvGrpSpPr/>
          <p:nvPr/>
        </p:nvGrpSpPr>
        <p:grpSpPr>
          <a:xfrm>
            <a:off x="16810582" y="6579437"/>
            <a:ext cx="15445070" cy="1191146"/>
            <a:chOff x="924898" y="7564152"/>
            <a:chExt cx="14315578" cy="1468940"/>
          </a:xfrm>
        </p:grpSpPr>
        <p:sp>
          <p:nvSpPr>
            <p:cNvPr id="2062" name="Rectangle 2061">
              <a:extLst>
                <a:ext uri="{FF2B5EF4-FFF2-40B4-BE49-F238E27FC236}">
                  <a16:creationId xmlns:a16="http://schemas.microsoft.com/office/drawing/2014/main" id="{8D7CE0AE-3799-1F36-032B-8D72D8C73797}"/>
                </a:ext>
              </a:extLst>
            </p:cNvPr>
            <p:cNvSpPr/>
            <p:nvPr/>
          </p:nvSpPr>
          <p:spPr>
            <a:xfrm>
              <a:off x="924898" y="7564152"/>
              <a:ext cx="14315578" cy="1468940"/>
            </a:xfrm>
            <a:prstGeom prst="rect">
              <a:avLst/>
            </a:prstGeom>
            <a:solidFill>
              <a:srgbClr val="800000"/>
            </a:solidFill>
            <a:ln>
              <a:solidFill>
                <a:srgbClr val="8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3" name="TextBox 2062">
              <a:extLst>
                <a:ext uri="{FF2B5EF4-FFF2-40B4-BE49-F238E27FC236}">
                  <a16:creationId xmlns:a16="http://schemas.microsoft.com/office/drawing/2014/main" id="{EEC70839-554A-8CD6-4D85-F185E0E04F25}"/>
                </a:ext>
              </a:extLst>
            </p:cNvPr>
            <p:cNvSpPr txBox="1"/>
            <p:nvPr/>
          </p:nvSpPr>
          <p:spPr>
            <a:xfrm>
              <a:off x="4232581" y="7619811"/>
              <a:ext cx="7700211" cy="13663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600" b="1">
                  <a:solidFill>
                    <a:schemeClr val="bg1"/>
                  </a:solidFill>
                </a:rPr>
                <a:t>METHODS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sp>
        <p:nvSpPr>
          <p:cNvPr id="2064" name="TextBox 2063">
            <a:extLst>
              <a:ext uri="{FF2B5EF4-FFF2-40B4-BE49-F238E27FC236}">
                <a16:creationId xmlns:a16="http://schemas.microsoft.com/office/drawing/2014/main" id="{BAF39660-9396-DB16-8A32-FF14C5A2E29B}"/>
              </a:ext>
            </a:extLst>
          </p:cNvPr>
          <p:cNvSpPr txBox="1"/>
          <p:nvPr/>
        </p:nvSpPr>
        <p:spPr>
          <a:xfrm>
            <a:off x="17819769" y="23155293"/>
            <a:ext cx="1257686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Figure 2. The frequency of polyfunctional V</a:t>
            </a:r>
            <a:r>
              <a:rPr lang="el-GR" sz="3600" b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δ</a:t>
            </a:r>
            <a:r>
              <a:rPr lang="en-US" sz="3600" b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2s  cells is higher in HEU than HU infants</a:t>
            </a:r>
          </a:p>
        </p:txBody>
      </p:sp>
      <p:grpSp>
        <p:nvGrpSpPr>
          <p:cNvPr id="2065" name="Group 2064">
            <a:extLst>
              <a:ext uri="{FF2B5EF4-FFF2-40B4-BE49-F238E27FC236}">
                <a16:creationId xmlns:a16="http://schemas.microsoft.com/office/drawing/2014/main" id="{191F45F9-508B-43D6-4910-0F646542F6CD}"/>
              </a:ext>
            </a:extLst>
          </p:cNvPr>
          <p:cNvGrpSpPr/>
          <p:nvPr/>
        </p:nvGrpSpPr>
        <p:grpSpPr>
          <a:xfrm>
            <a:off x="16781260" y="21792960"/>
            <a:ext cx="15474392" cy="1113935"/>
            <a:chOff x="924898" y="7564152"/>
            <a:chExt cx="14315578" cy="1468940"/>
          </a:xfrm>
        </p:grpSpPr>
        <p:sp>
          <p:nvSpPr>
            <p:cNvPr id="2066" name="Rectangle 2065">
              <a:extLst>
                <a:ext uri="{FF2B5EF4-FFF2-40B4-BE49-F238E27FC236}">
                  <a16:creationId xmlns:a16="http://schemas.microsoft.com/office/drawing/2014/main" id="{CFE925DA-8A7B-FF38-D77A-9CAC1155B43E}"/>
                </a:ext>
              </a:extLst>
            </p:cNvPr>
            <p:cNvSpPr/>
            <p:nvPr/>
          </p:nvSpPr>
          <p:spPr>
            <a:xfrm>
              <a:off x="924898" y="7564152"/>
              <a:ext cx="14315578" cy="1468940"/>
            </a:xfrm>
            <a:prstGeom prst="rect">
              <a:avLst/>
            </a:prstGeom>
            <a:solidFill>
              <a:srgbClr val="800000"/>
            </a:solidFill>
            <a:ln>
              <a:solidFill>
                <a:srgbClr val="8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7" name="TextBox 2066">
              <a:extLst>
                <a:ext uri="{FF2B5EF4-FFF2-40B4-BE49-F238E27FC236}">
                  <a16:creationId xmlns:a16="http://schemas.microsoft.com/office/drawing/2014/main" id="{8A518311-8DAF-FDA3-D151-80160734D014}"/>
                </a:ext>
              </a:extLst>
            </p:cNvPr>
            <p:cNvSpPr txBox="1"/>
            <p:nvPr/>
          </p:nvSpPr>
          <p:spPr>
            <a:xfrm>
              <a:off x="4232581" y="7619811"/>
              <a:ext cx="7700211" cy="13357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600" b="1">
                  <a:solidFill>
                    <a:schemeClr val="bg1"/>
                  </a:solidFill>
                </a:rPr>
                <a:t>RESULTS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pic>
        <p:nvPicPr>
          <p:cNvPr id="2069" name="Picture 2068" descr="A close-up of a logo&#10;&#10;Description automatically generated with medium confidence">
            <a:extLst>
              <a:ext uri="{FF2B5EF4-FFF2-40B4-BE49-F238E27FC236}">
                <a16:creationId xmlns:a16="http://schemas.microsoft.com/office/drawing/2014/main" id="{10605A1B-376F-1AC5-5C9D-2B01887EFC3A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300" y="1627744"/>
            <a:ext cx="9384955" cy="2465173"/>
          </a:xfrm>
          <a:prstGeom prst="rect">
            <a:avLst/>
          </a:prstGeom>
        </p:spPr>
      </p:pic>
      <p:sp>
        <p:nvSpPr>
          <p:cNvPr id="2070" name="TextBox 2069">
            <a:extLst>
              <a:ext uri="{FF2B5EF4-FFF2-40B4-BE49-F238E27FC236}">
                <a16:creationId xmlns:a16="http://schemas.microsoft.com/office/drawing/2014/main" id="{3C7B8C50-FEFE-8912-E939-A5202BDC35AB}"/>
              </a:ext>
            </a:extLst>
          </p:cNvPr>
          <p:cNvSpPr txBox="1"/>
          <p:nvPr/>
        </p:nvSpPr>
        <p:spPr>
          <a:xfrm>
            <a:off x="33566485" y="35496668"/>
            <a:ext cx="15347842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Analyze the ILT spectral flow cytometry data for the 3 infant groups using combination of supervised and unsupervised approaches.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Finish acquisition and analyze longitudinal adaptive  T cell responses in our cohort to vaccine antigen (Bacillus Calmette Guerin (BCG)).</a:t>
            </a:r>
          </a:p>
        </p:txBody>
      </p:sp>
      <p:sp>
        <p:nvSpPr>
          <p:cNvPr id="2076" name="TextBox 2075">
            <a:extLst>
              <a:ext uri="{FF2B5EF4-FFF2-40B4-BE49-F238E27FC236}">
                <a16:creationId xmlns:a16="http://schemas.microsoft.com/office/drawing/2014/main" id="{2AED462F-00DC-EC8E-B4B9-F23FBDCCCCC1}"/>
              </a:ext>
            </a:extLst>
          </p:cNvPr>
          <p:cNvSpPr txBox="1"/>
          <p:nvPr/>
        </p:nvSpPr>
        <p:spPr>
          <a:xfrm>
            <a:off x="17125292" y="20521307"/>
            <a:ext cx="565472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Acquired Cytek Aurora (UV16-V16-B14-R8) 29 colors</a:t>
            </a:r>
          </a:p>
          <a:p>
            <a:r>
              <a:rPr lang="en-US" sz="32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 </a:t>
            </a:r>
            <a:endParaRPr lang="en-US" sz="320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CA5F8F0-39EC-D637-1D19-6B014F28D498}"/>
              </a:ext>
            </a:extLst>
          </p:cNvPr>
          <p:cNvSpPr txBox="1"/>
          <p:nvPr/>
        </p:nvSpPr>
        <p:spPr>
          <a:xfrm>
            <a:off x="22440893" y="35029352"/>
            <a:ext cx="5818463" cy="2000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UMGCCC Flow Cytometry Core</a:t>
            </a:r>
          </a:p>
          <a:p>
            <a:pPr algn="ctr"/>
            <a:r>
              <a:rPr lang="en-US" sz="32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NIH Tetramer Core</a:t>
            </a:r>
          </a:p>
          <a:p>
            <a:pPr algn="just"/>
            <a:endParaRPr lang="en-US" sz="320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just"/>
            <a:endParaRPr lang="en-US" sz="2800" b="1"/>
          </a:p>
        </p:txBody>
      </p:sp>
    </p:spTree>
    <p:extLst>
      <p:ext uri="{BB962C8B-B14F-4D97-AF65-F5344CB8AC3E}">
        <p14:creationId xmlns:p14="http://schemas.microsoft.com/office/powerpoint/2010/main" val="31489365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Application>Microsoft Office PowerPoint</Application>
  <PresentationFormat>Custom</PresentationFormat>
  <Slides>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Rach, David</dc:creator>
  <cp:revision>2</cp:revision>
  <dcterms:created xsi:type="dcterms:W3CDTF">2023-05-08T13:05:47Z</dcterms:created>
  <dcterms:modified xsi:type="dcterms:W3CDTF">2026-06-11T04:24:25Z</dcterms:modified>
</cp:coreProperties>
</file>